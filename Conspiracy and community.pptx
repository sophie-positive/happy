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57" r:id="rId5"/>
    <p:sldId id="261" r:id="rId6"/>
    <p:sldId id="260" r:id="rId7"/>
    <p:sldId id="258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72" d="100"/>
          <a:sy n="72" d="100"/>
        </p:scale>
        <p:origin x="89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147E62AF-8DE8-4305-9D73-0126063A16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92E9E037-4928-4EF2-B71E-DE99BA96EE37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62AF-8DE8-4305-9D73-0126063A16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E037-4928-4EF2-B71E-DE99BA96EE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62AF-8DE8-4305-9D73-0126063A16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E037-4928-4EF2-B71E-DE99BA96EE37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62AF-8DE8-4305-9D73-0126063A16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E037-4928-4EF2-B71E-DE99BA96EE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62AF-8DE8-4305-9D73-0126063A16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E037-4928-4EF2-B71E-DE99BA96EE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62AF-8DE8-4305-9D73-0126063A16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E037-4928-4EF2-B71E-DE99BA96EE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62AF-8DE8-4305-9D73-0126063A16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E037-4928-4EF2-B71E-DE99BA96EE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62AF-8DE8-4305-9D73-0126063A16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E037-4928-4EF2-B71E-DE99BA96EE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62AF-8DE8-4305-9D73-0126063A16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E037-4928-4EF2-B71E-DE99BA96EE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62AF-8DE8-4305-9D73-0126063A16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E037-4928-4EF2-B71E-DE99BA96EE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62AF-8DE8-4305-9D73-0126063A16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9E037-4928-4EF2-B71E-DE99BA96EE3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147E62AF-8DE8-4305-9D73-0126063A16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92E9E037-4928-4EF2-B71E-DE99BA96EE3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anose="020B0604020202020204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altLang="zh-CN" dirty="0"/>
              <a:t>Conspiracy and community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After the shots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Why, after the crisis, </a:t>
            </a:r>
            <a:r>
              <a:rPr lang="en-IE" altLang="en-US" dirty="0"/>
              <a:t>what do we</a:t>
            </a:r>
            <a:r>
              <a:rPr lang="en-US" altLang="zh-CN" dirty="0"/>
              <a:t> believe anymore?</a:t>
            </a:r>
            <a:endParaRPr lang="en-US" altLang="zh-CN" dirty="0"/>
          </a:p>
          <a:p>
            <a:r>
              <a:rPr lang="en-US" altLang="zh-CN" dirty="0"/>
              <a:t>After a crisis event, information including conspiracy spread more quickly than official investigations on the internet. We’re not going to trust the people who believe in those conspiracies; instead, we need to know where the distrust comes from, how it produces, complicate and enhanced by the media? 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" y="-547357"/>
            <a:ext cx="9692640" cy="1325562"/>
          </a:xfrm>
        </p:spPr>
        <p:txBody>
          <a:bodyPr/>
          <a:lstStyle/>
          <a:p>
            <a:r>
              <a:rPr lang="en-IE" altLang="zh-CN" dirty="0"/>
              <a:t>Method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6972" y="891541"/>
            <a:ext cx="5032248" cy="2903219"/>
          </a:xfrm>
        </p:spPr>
        <p:txBody>
          <a:bodyPr/>
          <a:lstStyle/>
          <a:p>
            <a:r>
              <a:rPr lang="en-IE" altLang="zh-CN" dirty="0"/>
              <a:t>Online ethnography</a:t>
            </a:r>
            <a:endParaRPr lang="en-IE" altLang="zh-CN" dirty="0"/>
          </a:p>
          <a:p>
            <a:r>
              <a:rPr lang="en-IE" altLang="zh-CN" dirty="0"/>
              <a:t> Non-participant observation. </a:t>
            </a:r>
            <a:endParaRPr lang="en-IE" altLang="zh-CN" dirty="0"/>
          </a:p>
          <a:p>
            <a:r>
              <a:rPr lang="en-IE" altLang="zh-CN" dirty="0"/>
              <a:t>Event: A failed assassination attempt. </a:t>
            </a:r>
            <a:endParaRPr lang="en-IE" altLang="zh-CN" dirty="0"/>
          </a:p>
          <a:p>
            <a:r>
              <a:rPr lang="en-IE" altLang="zh-CN" dirty="0"/>
              <a:t>Why Reddit: It is one of the oldest social platform and most active conspiracy communities on the internet. </a:t>
            </a:r>
            <a:endParaRPr lang="en-IE" altLang="zh-CN" dirty="0"/>
          </a:p>
          <a:p>
            <a:endParaRPr lang="en-IE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972" y="3185129"/>
            <a:ext cx="4442553" cy="367287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405120" y="417830"/>
            <a:ext cx="5311140" cy="3070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IE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6860" y="301625"/>
            <a:ext cx="10936605" cy="6483985"/>
          </a:xfrm>
        </p:spPr>
        <p:txBody>
          <a:bodyPr>
            <a:normAutofit lnSpcReduction="20000"/>
          </a:bodyPr>
          <a:p>
            <a:r>
              <a:rPr lang="en-US" altLang="zh-CN" dirty="0">
                <a:sym typeface="+mn-ea"/>
              </a:rPr>
              <a:t>Sample</a:t>
            </a:r>
            <a:r>
              <a:rPr lang="en-IE" altLang="en-US" dirty="0">
                <a:sym typeface="+mn-ea"/>
              </a:rPr>
              <a:t> - </a:t>
            </a:r>
            <a:r>
              <a:rPr lang="en-US" altLang="zh-CN" dirty="0">
                <a:sym typeface="+mn-ea"/>
              </a:rPr>
              <a:t>Approximately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 dirty="0">
                <a:sym typeface="+mn-ea"/>
              </a:rPr>
              <a:t>50-100 comments with 24 hour of incident. Making it suitable for observing the natural generation process of distrust narrative. </a:t>
            </a:r>
            <a:endParaRPr lang="en-US" altLang="zh-CN" dirty="0"/>
          </a:p>
          <a:p>
            <a:r>
              <a:rPr lang="en-IE" altLang="zh-CN" dirty="0">
                <a:sym typeface="+mn-ea"/>
              </a:rPr>
              <a:t>Collectives are a construction of affordances, pictures, posts, emotions and people. </a:t>
            </a:r>
            <a:endParaRPr lang="en-IE" altLang="zh-CN" dirty="0"/>
          </a:p>
          <a:p>
            <a:r>
              <a:rPr lang="en-IE" altLang="zh-CN" dirty="0">
                <a:sym typeface="+mn-ea"/>
              </a:rPr>
              <a:t>The decision is made by parameters of research, including the number of posts, type of content to be analysed, as well as the duration of data collection. (Jonathan Collins, 2025)</a:t>
            </a:r>
            <a:endParaRPr lang="en-IE" altLang="zh-CN" dirty="0"/>
          </a:p>
          <a:p>
            <a:r>
              <a:rPr lang="en-IE" altLang="zh-CN" dirty="0">
                <a:sym typeface="+mn-ea"/>
              </a:rPr>
              <a:t>Examples from the experts : manually gathered using Chapter2 Text to screen capture the text, each one daily. (Weekday) Top five posts of chosen subgroups to record the discursive forci, storing the data in  a secured online database: especially on their likes, shares and comments. (Jonathan Collins, 2025). </a:t>
            </a:r>
            <a:endParaRPr lang="en-IE" altLang="zh-CN" dirty="0"/>
          </a:p>
          <a:p>
            <a:r>
              <a:rPr lang="en-IE" altLang="zh-CN" dirty="0">
                <a:sym typeface="+mn-ea"/>
              </a:rPr>
              <a:t>Common uses of netnography include the consumption experience such as the reaction to advertising stimuli, consumer behaviour, consumer subculture , new product development...(Angele Delli Paoli, 2025). </a:t>
            </a:r>
            <a:endParaRPr lang="en-IE" altLang="zh-CN" dirty="0">
              <a:sym typeface="+mn-ea"/>
            </a:endParaRPr>
          </a:p>
          <a:p>
            <a:r>
              <a:rPr lang="en-IE" altLang="zh-CN" dirty="0"/>
              <a:t>We can identitfiy the patterns in age groups of the 18-25 demographic, gender, employment status, religion and poltical beliefs through the tiktok, twitter and reddit. </a:t>
            </a:r>
            <a:endParaRPr lang="en-IE" altLang="zh-CN" dirty="0"/>
          </a:p>
          <a:p>
            <a:r>
              <a:rPr lang="en-IE" altLang="zh-CN" dirty="0"/>
              <a:t>In the digital era, the interplay between narrative and identify takes on new dimension. These digital identities may be shaped through deliberate acts of self-presentation or emerge through collective engagement within groups, pages and online movements. (Hussein Hnit, 2025)</a:t>
            </a:r>
            <a:endParaRPr lang="en-IE" altLang="zh-CN" dirty="0"/>
          </a:p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IE" altLang="zh-CN"/>
              <a:t>The data collected are anonymised, and the highlighted posts are obsecured to prevent reserve searching on the platform. </a:t>
            </a:r>
            <a:endParaRPr lang="en-IE" altLang="zh-CN"/>
          </a:p>
          <a:p>
            <a:r>
              <a:rPr lang="en-IE" altLang="zh-CN"/>
              <a:t>Gab Social is a public social media, where content is free to review without creating an account. </a:t>
            </a:r>
            <a:endParaRPr lang="en-IE" altLang="zh-CN"/>
          </a:p>
          <a:p>
            <a:r>
              <a:rPr lang="en-IE" altLang="zh-CN"/>
              <a:t>The benefits of the field in understanding far-right collectives outweighs potential negative consequences for the non-vulnerable community. Virtual immersive methods provide an unabtrosive fly-on-the-wall approach to examine online extreme community. (Jonathan Collins, 2025)</a:t>
            </a:r>
            <a:endParaRPr lang="en-IE" altLang="zh-CN"/>
          </a:p>
          <a:p>
            <a:r>
              <a:rPr lang="en-US" altLang="en-IE"/>
              <a:t>Screenshot after the post has been posted between 24-72 hours. The most notable comments (around 65 comments). Because of the dynamic algorithms, the post might out of the top criteria posts, however, it is not affecting the screenshot covers </a:t>
            </a:r>
            <a:r>
              <a:rPr lang="en-IE" altLang="en-US"/>
              <a:t>some unforgettable comments</a:t>
            </a:r>
            <a:r>
              <a:rPr lang="en-US" altLang="en-IE"/>
              <a:t>. </a:t>
            </a:r>
            <a:endParaRPr lang="en-US" altLang="en-IE"/>
          </a:p>
          <a:p>
            <a:r>
              <a:rPr lang="en-US" altLang="zh-CN"/>
              <a:t>Positionality: we are figuring out how the reaction of communities in specific period rather than long term tracking. </a:t>
            </a: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altLang="zh-CN" dirty="0"/>
              <a:t>Main findings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Users like the investigators, they’re pointing out every single details. “I like how the sercret service positioned the photographers and lowered the pic for the pic.”</a:t>
            </a:r>
            <a:endParaRPr lang="en-US" altLang="zh-CN" dirty="0"/>
          </a:p>
          <a:p>
            <a:r>
              <a:rPr lang="en-US" altLang="zh-CN" dirty="0"/>
              <a:t> The work of women’s mission is stigmatized. “Susie, you’re blocking the camera, get down!”</a:t>
            </a:r>
            <a:endParaRPr lang="en-US" altLang="zh-CN" dirty="0"/>
          </a:p>
          <a:p>
            <a:r>
              <a:rPr lang="en-US" altLang="zh-CN" dirty="0"/>
              <a:t>“i tried to find her name, but i was unable because it apparently been withheld for “security reason”. </a:t>
            </a:r>
            <a:endParaRPr lang="en-US" altLang="zh-CN" dirty="0"/>
          </a:p>
          <a:p>
            <a:r>
              <a:rPr lang="en-US" altLang="zh-CN" dirty="0"/>
              <a:t>Denied of human’s lose. “Did the SS get a heck of a lot worse since the 80’s? nope.”</a:t>
            </a:r>
            <a:endParaRPr lang="en-US" altLang="zh-CN" dirty="0"/>
          </a:p>
          <a:p>
            <a:r>
              <a:rPr lang="en-US" altLang="zh-CN" dirty="0"/>
              <a:t>Truth is never going to be find out. “I strongly believe no one will ever find the truth on this one.”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0625" y="561340"/>
            <a:ext cx="5325745" cy="10064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285" y="1567815"/>
            <a:ext cx="4564380" cy="10553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685" y="2839085"/>
            <a:ext cx="5138420" cy="75311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3145" y="3592195"/>
            <a:ext cx="4420870" cy="932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IE" altLang="zh-CN"/>
              <a:t>The social consequences of conspiracy theory</a:t>
            </a:r>
            <a:endParaRPr lang="en-IE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E" altLang="zh-CN"/>
              <a:t>Belief in conspiracy theories appears to be linked to difficulties in people’s personal relationships. (Cassidy Rowden). Contribute to feelings of social isolation, distance, and mistrust of others. </a:t>
            </a:r>
            <a:endParaRPr lang="en-IE" altLang="zh-CN"/>
          </a:p>
          <a:p>
            <a:r>
              <a:rPr lang="en-IE" altLang="zh-CN"/>
              <a:t>Mistrust in instutions, fulled by conspiracist thinkings. </a:t>
            </a:r>
            <a:endParaRPr lang="en-IE" altLang="zh-CN"/>
          </a:p>
          <a:p>
            <a:r>
              <a:rPr lang="en-IE" altLang="zh-CN"/>
              <a:t>It is therefore plausible to propose that the ever-increasing presence of conspiracy theories. Discourage citizens from voting. </a:t>
            </a:r>
            <a:endParaRPr lang="en-IE" altLang="zh-CN"/>
          </a:p>
          <a:p>
            <a:endParaRPr lang="en-IE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风景">
  <a:themeElements>
    <a:clrScheme name="风景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风景">
      <a:majorFont>
        <a:latin typeface="Century Schoolbook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风景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0</TotalTime>
  <Words>3840</Words>
  <Application>WPS 演示</Application>
  <PresentationFormat>宽屏</PresentationFormat>
  <Paragraphs>49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Wingdings 2</vt:lpstr>
      <vt:lpstr>Century Schoolbook</vt:lpstr>
      <vt:lpstr>微软雅黑</vt:lpstr>
      <vt:lpstr>Arial Unicode MS</vt:lpstr>
      <vt:lpstr>Calibri</vt:lpstr>
      <vt:lpstr>风景</vt:lpstr>
      <vt:lpstr>Conspiracy and community</vt:lpstr>
      <vt:lpstr>After the shots</vt:lpstr>
      <vt:lpstr>Method</vt:lpstr>
      <vt:lpstr>PowerPoint 演示文稿</vt:lpstr>
      <vt:lpstr>PowerPoint 演示文稿</vt:lpstr>
      <vt:lpstr>Main findings</vt:lpstr>
      <vt:lpstr>The social consequences of conspiracy theory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Tian Jingying</dc:creator>
  <cp:lastModifiedBy>SOPhie</cp:lastModifiedBy>
  <cp:revision>6</cp:revision>
  <dcterms:created xsi:type="dcterms:W3CDTF">2026-04-21T09:03:00Z</dcterms:created>
  <dcterms:modified xsi:type="dcterms:W3CDTF">2026-04-24T11:04:03Z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391C36ACEE14498F8A54D20AF0C71FA0_12</vt:lpwstr>
  </property>
  <property fmtid="{D5CDD505-2E9C-101B-9397-08002B2CF9AE}" pid="3" name="KSOProductBuildVer">
    <vt:lpwstr>2052-12.1.0.21915</vt:lpwstr>
  </property>
</Properties>
</file>